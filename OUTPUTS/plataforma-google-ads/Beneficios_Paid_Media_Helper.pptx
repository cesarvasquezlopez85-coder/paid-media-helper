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846320"/>
            <a:ext cx="2560320" cy="2560320"/>
          </a:xfrm>
          <a:prstGeom prst="ellipse">
            <a:avLst/>
          </a:prstGeom>
          <a:solidFill>
            <a:srgbClr val="1D305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5486400"/>
            <a:ext cx="1280160" cy="1280160"/>
          </a:xfrm>
          <a:prstGeom prst="ellipse">
            <a:avLst/>
          </a:prstGeom>
          <a:solidFill>
            <a:srgbClr val="F2C41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C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AYUDA PARA GOOGLE ADS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ventajas para el equipo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escalar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analizar una cuenta de Google Ads a fondo significa horas de trabajo manual — y ese trabajo se repite, cuenta por cuenta.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/private/tmp/claude-501/-Users-cessvasquez-PLATAFORMA-INTERNA-GOOGLE-ADS/1dcf0d53-e5b8-4da4-bfbc-6bb5f47102ce/scratchpad/pmh_deck/icons/c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245927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3042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por cuenta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6243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el archivo, revisar campaña por campaña, calcular CPA y CTR a mano.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502152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/private/tmp/claude-501/-Users-cessvasquez-PLATAFORMA-INTERNA-GOOGLE-ADS/1dcf0d53-e5b8-4da4-bfbc-6bb5f47102ce/scratchpad/pmh_deck/icons/us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3629711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474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distinto entre personas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794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estratega prioriza distinto — el mismo dato, decisiones diferentes.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72584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2" descr="/private/tmp/claude-501/-Users-cessvasquez-PLATAFORMA-INTERNA-GOOGLE-ADS/1dcf0d53-e5b8-4da4-bfbc-6bb5f47102ce/scratchpad/pmh_deck/icons/alert-triangle-dang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4800143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6451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sostener a escala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96519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funciona para 5 cuentas no aguanta cuando el equipo maneja 100+.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406640" y="123444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111B37"/>
          </a:solidFill>
          <a:ln/>
        </p:spPr>
      </p:sp>
      <p:sp>
        <p:nvSpPr>
          <p:cNvPr id="17" name="Text 12"/>
          <p:cNvSpPr/>
          <p:nvPr/>
        </p:nvSpPr>
        <p:spPr>
          <a:xfrm>
            <a:off x="7680960" y="19659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QUE EL EQUIPO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50" kern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HOY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680960" y="25146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C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7200" dirty="0"/>
          </a:p>
        </p:txBody>
      </p:sp>
      <p:sp>
        <p:nvSpPr>
          <p:cNvPr id="19" name="Text 14"/>
          <p:cNvSpPr/>
          <p:nvPr/>
        </p:nvSpPr>
        <p:spPr>
          <a:xfrm>
            <a:off x="7909560" y="416052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está pensada desde el diseño para cubrirlas todas de forma self-serve — sin que el análisis dependa de una sola persona.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Paid Media Helper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interna que analiza tus cuentas de Google Ads y te dice qué hacer — sin depender de un análisis manual, campaña por campaña.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F4F5F8"/>
          </a:solidFill>
          <a:ln w="12700">
            <a:solidFill>
              <a:srgbClr val="D7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834640"/>
            <a:ext cx="777240" cy="7772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/private/tmp/claude-501/-Users-cessvasquez-PLATAFORMA-INTERNA-GOOGLE-ADS/1dcf0d53-e5b8-4da4-bfbc-6bb5f47102ce/scratchpad/pmh_deck/icons/ey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30289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71800" y="27889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7D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42976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archivo o conecta la cuenta en vivo — la plataforma calcula CPA, CTR, ROAS e impression share al instante.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46888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F4F5F8"/>
          </a:solidFill>
          <a:ln w="12700">
            <a:solidFill>
              <a:srgbClr val="D7DA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834640"/>
            <a:ext cx="777240" cy="7772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/private/tmp/claude-501/-Users-cessvasquez-PLATAFORMA-INTERNA-GOOGLE-ADS/1dcf0d53-e5b8-4da4-bfbc-6bb5f47102ce/scratchpad/pmh_deck/icons/targe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302895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27889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7D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2628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26280" y="42976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qué atender primero (CPA, presupuesto, relevancia, ranking) con umbrales validados contra cuentas reales.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0" y="246888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F4F5F8"/>
          </a:solidFill>
          <a:ln w="12700">
            <a:solidFill>
              <a:srgbClr val="D7DA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92440" y="2834640"/>
            <a:ext cx="777240" cy="7772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8" name="Image 2" descr="/private/tmp/claude-501/-Users-cessvasquez-PLATAFORMA-INTERNA-GOOGLE-ADS/1dcf0d53-e5b8-4da4-bfbc-6bb5f47102ce/scratchpad/pmh_deck/icons/sen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302895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104120" y="27889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7D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09244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092440" y="429768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negativos o ajusta el ROAS objetivo directo desde la plataforma — siempre con vista previa antes de aplicar.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horas a segundos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análisis que antes tomaba horas por cuenta, ahora corre solo — subes un archivo o conectas la cuenta, y la plataforma hace el resto.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2C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horas de trabajo manual, por cada cuenta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51846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5806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construidas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507492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51846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1,105+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5806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del MCC conectadas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507492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51846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3880" y="5806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disponible, sin instalar nada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funciones, un solo lugar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cambiar de herramienta ni volver a exportar el mismo archivo dos veces.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56232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/private/tmp/claude-501/-Users-cessvasquez-PLATAFORMA-INTERNA-GOOGLE-ADS/1dcf0d53-e5b8-4da4-bfbc-6bb5f47102ce/scratchpad/pmh_deck/icons/bar-chart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" y="201424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01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112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y recomendaciones priorizadas por gasto, al instante.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862072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3026664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/private/tmp/claude-501/-Users-cessvasquez-PLATAFORMA-INTERNA-GOOGLE-ADS/1dcf0d53-e5b8-4da4-bfbc-6bb5f47102ce/scratchpad/pmh_deck/icons/percen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56" y="3184672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45920" y="32826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ROAS logrado vs. el objetivo, y ajústalo desde acá.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032504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4197096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/private/tmp/claude-501/-Users-cessvasquez-PLATAFORMA-INTERNA-GOOGLE-ADS/1dcf0d53-e5b8-4da4-bfbc-6bb5f47102ce/scratchpad/pmh_deck/icons/search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56" y="435510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42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Negativización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4453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términos de búsqueda candidatos a negativo.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520293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1248" y="5367528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3" descr="/private/tmp/claude-501/-Users-cessvasquez-PLATAFORMA-INTERNA-GOOGLE-ADS/1dcf0d53-e5b8-4da4-bfbc-6bb5f47102ce/scratchpad/pmh_deck/icons/trending-up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256" y="552553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3126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ingresos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645920" y="5623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cuánto se pierde por presupuesto limitado.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55080" y="16916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56248" y="1856232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/private/tmp/claude-501/-Users-cessvasquez-PLATAFORMA-INTERNA-GOOGLE-ADS/1dcf0d53-e5b8-4da4-bfbc-6bb5f47102ce/scratchpad/pmh_deck/icons/repeat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256" y="2014240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1801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periodos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360920" y="2112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 entre dos rangos, no solo la foto de un momento.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55080" y="2862072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56248" y="3026664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1" name="Image 5" descr="/private/tmp/claude-501/-Users-cessvasquez-PLATAFORMA-INTERNA-GOOGLE-ADS/1dcf0d53-e5b8-4da4-bfbc-6bb5f47102ce/scratchpad/pmh_deck/icons/calendar-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256" y="3184672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360920" y="32826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reales de hotel, por mercado y temporada.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355080" y="4032504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556248" y="4197096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6" name="Image 6" descr="/private/tmp/claude-501/-Users-cessvasquez-PLATAFORMA-INTERNA-GOOGLE-ADS/1dcf0d53-e5b8-4da4-bfbc-6bb5f47102ce/scratchpad/pmh_deck/icons/activity-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256" y="4355104"/>
            <a:ext cx="342351" cy="34235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60920" y="4142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ventas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7360920" y="4453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futuros combinando tendencia y temporada.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 en vivo con Google Ads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640080" cy="640080"/>
          </a:xfrm>
          <a:prstGeom prst="ellipse">
            <a:avLst/>
          </a:prstGeom>
          <a:solidFill>
            <a:srgbClr val="F2C419"/>
          </a:solidFill>
          <a:ln/>
        </p:spPr>
      </p:sp>
      <p:pic>
        <p:nvPicPr>
          <p:cNvPr id="4" name="Image 0" descr="/private/tmp/claude-501/-Users-cessvasquez-PLATAFORMA-INTERNA-GOOGLE-ADS/1dcf0d53-e5b8-4da4-bfbc-6bb5f47102ce/scratchpad/pmh_deck/icons/refresh-cw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0345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8288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hace falta exportar un CSV a mano. La plataforma se conecta directo a la cuenta y trae campañas, términos de búsqueda y ROAS en tiempo real.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F2C419"/>
          </a:solidFill>
          <a:ln/>
        </p:spPr>
      </p:sp>
      <p:pic>
        <p:nvPicPr>
          <p:cNvPr id="7" name="Image 1" descr="/private/tmp/claude-501/-Users-cessvasquez-PLATAFORMA-INTERNA-GOOGLE-ADS/1dcf0d53-e5b8-4da4-bfbc-6bb5f47102ce/scratchpad/pmh_deck/icons/databas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2232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30175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cualquier cuenta del MCC por nombre o ID — sin perderse entre más de mil cuentas repartidas en sub-MCCs por marca de hotel.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0080" y="43434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una cuenta no esté conectada, todo sigue funcionando en modo simulado — mismo flujo, datos de ejemplo, para probar sin riesgo.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178040" y="1280160"/>
            <a:ext cx="4389120" cy="4114800"/>
          </a:xfrm>
          <a:prstGeom prst="roundRect">
            <a:avLst>
              <a:gd name="adj" fmla="val 2667"/>
            </a:avLst>
          </a:prstGeom>
          <a:solidFill>
            <a:srgbClr val="111B37"/>
          </a:solidFill>
          <a:ln/>
        </p:spPr>
      </p:sp>
      <p:sp>
        <p:nvSpPr>
          <p:cNvPr id="11" name="Text 7"/>
          <p:cNvSpPr/>
          <p:nvPr/>
        </p:nvSpPr>
        <p:spPr>
          <a:xfrm>
            <a:off x="7452360" y="20574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REALES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50" kern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MCC CONECTADAS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452360" y="26060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2C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1,105+</a:t>
            </a:r>
            <a:endParaRPr lang="en-US" sz="5800" dirty="0"/>
          </a:p>
        </p:txBody>
      </p:sp>
      <p:sp>
        <p:nvSpPr>
          <p:cNvPr id="13" name="Text 9"/>
          <p:cNvSpPr/>
          <p:nvPr/>
        </p:nvSpPr>
        <p:spPr>
          <a:xfrm>
            <a:off x="7726680" y="39776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 real — no solo consulta, también acción directa sobre la cuenta.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diagnostica — también actúa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acciones reales, directo desde la plataforma, sobre la cuenta de verdad del cliente: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/private/tmp/claude-501/-Users-cessvasquez-PLATAFORMA-INTERNA-GOOGLE-ADS/1dcf0d53-e5b8-4da4-bfbc-6bb5f47102ce/scratchpad/pmh_deck/icons/search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3660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palabras clave negativas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candidatos, elige cuáles subir, y confírmalos por campaña específica.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A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9456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/private/tmp/claude-501/-Users-cessvasquez-PLATAFORMA-INTERNA-GOOGLE-ADS/1dcf0d53-e5b8-4da4-bfbc-6bb5f47102ce/scratchpad/pmh_deck/icons/percen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3660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402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ROAS objetivo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92240" y="3108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ROAS objetivo de la estrategia de puja de una campaña sin salir de la app.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111B37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690872"/>
            <a:ext cx="822960" cy="822960"/>
          </a:xfrm>
          <a:prstGeom prst="ellipse">
            <a:avLst/>
          </a:prstGeom>
          <a:solidFill>
            <a:srgbClr val="F2C419"/>
          </a:solidFill>
          <a:ln/>
        </p:spPr>
      </p:sp>
      <p:pic>
        <p:nvPicPr>
          <p:cNvPr id="16" name="Image 2" descr="/private/tmp/claude-501/-Users-cessvasquez-PLATAFORMA-INTERNA-GOOGLE-ADS/1dcf0d53-e5b8-4da4-bfbc-6bb5f47102ce/scratchpad/pmh_deck/icons/shield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489661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5720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hay un solo clic entre decidir y escribir en la cuenta real.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057400" y="493776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cambio pasa primero por una vista previa que Google Ads valida sin aplicarlo — el botón de confirmar solo se habilita después.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criterio, para todo el equipo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umbrales y las recomendaciones están calibrados y validados contra cuentas reales, con el criterio de un estratega — así el análisis no depende de quién lo revise.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estratega junior y uno senior parten del mismo punto — la plataforma ya hizo la primera lectura objetiva de la cuenta.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4626864"/>
            <a:ext cx="100584" cy="100584"/>
          </a:xfrm>
          <a:prstGeom prst="ellipse">
            <a:avLst/>
          </a:prstGeom>
          <a:solidFill>
            <a:srgbClr val="F2C419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44988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% por tipo de campaña (Search marca, genérica, PMax, Demand Gen, Display)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5065776"/>
            <a:ext cx="100584" cy="100584"/>
          </a:xfrm>
          <a:prstGeom prst="ellipse">
            <a:avLst/>
          </a:prstGeom>
          <a:solidFill>
            <a:srgbClr val="F2C419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4937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mínimo esperado, segmentado por tipo de campaña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504688"/>
            <a:ext cx="100584" cy="100584"/>
          </a:xfrm>
          <a:prstGeom prst="ellipse">
            <a:avLst/>
          </a:prstGeom>
          <a:solidFill>
            <a:srgbClr val="F2C419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376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por tendencia, no solo por umbral fijo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914400"/>
            <a:ext cx="4370832" cy="4709160"/>
          </a:xfrm>
          <a:prstGeom prst="roundRect">
            <a:avLst>
              <a:gd name="adj" fmla="val 2510"/>
            </a:avLst>
          </a:prstGeom>
          <a:solidFill>
            <a:srgbClr val="F4F5F8"/>
          </a:solidFill>
          <a:ln w="12700">
            <a:solidFill>
              <a:srgbClr val="D7DA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1417320"/>
            <a:ext cx="1188720" cy="11887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0" descr="/private/tmp/claude-501/-Users-cessvasquez-PLATAFORMA-INTERNA-GOOGLE-ADS/1dcf0d53-e5b8-4da4-bfbc-6bb5f47102ce/scratchpad/pmh_deck/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5420" y="1714500"/>
            <a:ext cx="594360" cy="594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52360" y="2880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7680960" y="3840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evaluadas con el mismo estándar objetivo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datos, protegidos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API conectada de verdad, cada persona del equipo solo ve y toca las cuentas que le corresponden — no las 1,105+ del MCC completo.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34640"/>
            <a:ext cx="731520" cy="731520"/>
          </a:xfrm>
          <a:prstGeom prst="ellipse">
            <a:avLst/>
          </a:prstGeom>
          <a:solidFill>
            <a:srgbClr val="F2C419"/>
          </a:solidFill>
          <a:ln/>
        </p:spPr>
      </p:sp>
      <p:pic>
        <p:nvPicPr>
          <p:cNvPr id="6" name="Image 0" descr="/private/tmp/claude-501/-Users-cessvasquez-PLATAFORMA-INTERNA-GOOGLE-ADS/1dcf0d53-e5b8-4da4-bfbc-6bb5f47102ce/scratchpad/pmh_deck/icons/lo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017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749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cerrado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4206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entra con un código de invitación — nada de altas abiertas a cualquiera con el link.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25146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/>
        </p:spPr>
      </p:sp>
      <p:sp>
        <p:nvSpPr>
          <p:cNvPr id="10" name="Shape 7"/>
          <p:cNvSpPr/>
          <p:nvPr/>
        </p:nvSpPr>
        <p:spPr>
          <a:xfrm>
            <a:off x="4846320" y="2834640"/>
            <a:ext cx="731520" cy="731520"/>
          </a:xfrm>
          <a:prstGeom prst="ellipse">
            <a:avLst/>
          </a:prstGeom>
          <a:solidFill>
            <a:srgbClr val="F2C419"/>
          </a:solidFill>
          <a:ln/>
        </p:spPr>
      </p:sp>
      <p:pic>
        <p:nvPicPr>
          <p:cNvPr id="11" name="Image 1" descr="/private/tmp/claude-501/-Users-cessvasquez-PLATAFORMA-INTERNA-GOOGLE-ADS/1dcf0d53-e5b8-4da4-bfbc-6bb5f47102ce/scratchpad/pmh_deck/icons/shield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17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749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cuenta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4206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solo puede leer/escribir en las cuentas de Google Ads que se le asignen.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251460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2834640"/>
            <a:ext cx="731520" cy="731520"/>
          </a:xfrm>
          <a:prstGeom prst="ellipse">
            <a:avLst/>
          </a:prstGeom>
          <a:solidFill>
            <a:srgbClr val="F2C419"/>
          </a:solidFill>
          <a:ln/>
        </p:spPr>
      </p:sp>
      <p:pic>
        <p:nvPicPr>
          <p:cNvPr id="16" name="Image 2" descr="/private/tmp/claude-501/-Users-cessvasquez-PLATAFORMA-INTERNA-GOOGLE-ADS/1dcf0d53-e5b8-4da4-bfbc-6bb5f47102ce/scratchpad/pmh_deck/icons/alert-triangl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749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automático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4206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intentos fallidos de login bloquean la cuenta 15 minutos, sin importar desde dónde.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 disponible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/private/tmp/claude-501/-Users-cessvasquez-PLATAFORMA-INTERNA-GOOGLE-ADS/1dcf0d53-e5b8-4da4-bfbc-6bb5f47102ce/scratchpad/pmh_deck/icons/glob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63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accesible desde cualquier lugar, sin instalar nada.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6492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DA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28600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paid-media-helper.up.railway.app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entrar, tres pasos: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37307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tu código de invitación a cesar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370832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4352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cuenta (usuario y contraseña de 10+ caracteres)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992624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49743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que te asignen las cuentas de Google Ads que te corresponden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52360" y="1417320"/>
            <a:ext cx="4114800" cy="4434840"/>
          </a:xfrm>
          <a:prstGeom prst="roundRect">
            <a:avLst>
              <a:gd name="adj" fmla="val 2667"/>
            </a:avLst>
          </a:prstGeom>
          <a:solidFill>
            <a:srgbClr val="111B37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C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20" name="Text 17"/>
          <p:cNvSpPr/>
          <p:nvPr/>
        </p:nvSpPr>
        <p:spPr>
          <a:xfrm>
            <a:off x="7818120" y="2514600"/>
            <a:ext cx="3429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 para que cualquier persona del equipo suba un export y reciba gráficas y recomendaciones priorizadas, sin depender de un análisis manual.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818120" y="5074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idea detrás de Paid Media Helper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Helper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-822960"/>
            <a:ext cx="3017520" cy="3017520"/>
          </a:xfrm>
          <a:prstGeom prst="ellipse">
            <a:avLst/>
          </a:prstGeom>
          <a:solidFill>
            <a:srgbClr val="1D30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C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ideas, o cuentas para conectar — hablemos.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paid-media-helper.up.railway.app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2026-07-30T21:19:53Z</dcterms:created>
  <dcterms:modified xsi:type="dcterms:W3CDTF">2026-07-30T21:19:53Z</dcterms:modified>
</cp:coreProperties>
</file>